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Overlock"/>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Overlock-bold.fntdata"/><Relationship Id="rId16" Type="http://schemas.openxmlformats.org/officeDocument/2006/relationships/font" Target="fonts/Overlock-regular.fntdata"/><Relationship Id="rId5" Type="http://schemas.openxmlformats.org/officeDocument/2006/relationships/slide" Target="slides/slide1.xml"/><Relationship Id="rId19" Type="http://schemas.openxmlformats.org/officeDocument/2006/relationships/font" Target="fonts/Overlock-boldItalic.fntdata"/><Relationship Id="rId6" Type="http://schemas.openxmlformats.org/officeDocument/2006/relationships/slide" Target="slides/slide2.xml"/><Relationship Id="rId18" Type="http://schemas.openxmlformats.org/officeDocument/2006/relationships/font" Target="fonts/Overlock-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fa674831d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fa674831d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dfa674831d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1"/>
          <p:cNvSpPr/>
          <p:nvPr>
            <p:ph idx="2" type="pic"/>
          </p:nvPr>
        </p:nvSpPr>
        <p:spPr>
          <a:xfrm>
            <a:off x="5183188" y="987425"/>
            <a:ext cx="6172200" cy="4873625"/>
          </a:xfrm>
          <a:prstGeom prst="rect">
            <a:avLst/>
          </a:prstGeom>
          <a:noFill/>
          <a:ln>
            <a:noFill/>
          </a:ln>
        </p:spPr>
      </p:sp>
      <p:sp>
        <p:nvSpPr>
          <p:cNvPr id="69" name="Google Shape;69;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hihihi-svg/ATLAS" TargetMode="External"/><Relationship Id="rId4" Type="http://schemas.openxmlformats.org/officeDocument/2006/relationships/hyperlink" Target="https://drive.google.com/file/d/1dQHOMJPpKEpPHtKZmBmNMU25KjFZoAPy/view?usp=sharing" TargetMode="External"/><Relationship Id="rId5" Type="http://schemas.openxmlformats.org/officeDocument/2006/relationships/hyperlink" Target="https://docs.google.com/document/d/1XWGcT2da84ii2RsqHuhS2GlYhGltdpTb/edi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4"/>
          <p:cNvPicPr preferRelativeResize="0"/>
          <p:nvPr/>
        </p:nvPicPr>
        <p:blipFill rotWithShape="1">
          <a:blip r:embed="rId3">
            <a:alphaModFix/>
          </a:blip>
          <a:srcRect b="40504" l="35216" r="35722" t="9860"/>
          <a:stretch/>
        </p:blipFill>
        <p:spPr>
          <a:xfrm>
            <a:off x="7372538" y="1619794"/>
            <a:ext cx="4421349" cy="5638238"/>
          </a:xfrm>
          <a:prstGeom prst="rect">
            <a:avLst/>
          </a:prstGeom>
          <a:noFill/>
          <a:ln>
            <a:noFill/>
          </a:ln>
        </p:spPr>
      </p:pic>
      <p:sp>
        <p:nvSpPr>
          <p:cNvPr id="90" name="Google Shape;90;p14"/>
          <p:cNvSpPr txBox="1"/>
          <p:nvPr/>
        </p:nvSpPr>
        <p:spPr>
          <a:xfrm>
            <a:off x="0" y="604461"/>
            <a:ext cx="218258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000" u="none" cap="none" strike="noStrike">
                <a:solidFill>
                  <a:schemeClr val="dk1"/>
                </a:solidFill>
                <a:latin typeface="Overlock"/>
                <a:ea typeface="Overlock"/>
                <a:cs typeface="Overlock"/>
                <a:sym typeface="Overlock"/>
              </a:rPr>
              <a:t>CLASH OF THE</a:t>
            </a:r>
            <a:endParaRPr b="1" i="0" sz="2000" u="none" cap="none" strike="noStrike">
              <a:solidFill>
                <a:srgbClr val="E81B25"/>
              </a:solidFill>
              <a:latin typeface="Overlock"/>
              <a:ea typeface="Overlock"/>
              <a:cs typeface="Overlock"/>
              <a:sym typeface="Overlock"/>
            </a:endParaRPr>
          </a:p>
        </p:txBody>
      </p:sp>
      <p:sp>
        <p:nvSpPr>
          <p:cNvPr id="91" name="Google Shape;91;p14"/>
          <p:cNvSpPr txBox="1"/>
          <p:nvPr/>
        </p:nvSpPr>
        <p:spPr>
          <a:xfrm>
            <a:off x="1756232" y="436120"/>
            <a:ext cx="209116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u="none" cap="none" strike="noStrike">
                <a:solidFill>
                  <a:srgbClr val="E81B25"/>
                </a:solidFill>
                <a:latin typeface="Overlock"/>
                <a:ea typeface="Overlock"/>
                <a:cs typeface="Overlock"/>
                <a:sym typeface="Overlock"/>
              </a:rPr>
              <a:t>CLAWS</a:t>
            </a:r>
            <a:endParaRPr b="0" i="0" sz="3600" u="none" cap="none" strike="noStrike">
              <a:solidFill>
                <a:schemeClr val="dk1"/>
              </a:solidFill>
              <a:latin typeface="Overlock"/>
              <a:ea typeface="Overlock"/>
              <a:cs typeface="Overlock"/>
              <a:sym typeface="Overlock"/>
            </a:endParaRPr>
          </a:p>
        </p:txBody>
      </p:sp>
      <p:sp>
        <p:nvSpPr>
          <p:cNvPr id="92" name="Google Shape;92;p14"/>
          <p:cNvSpPr txBox="1"/>
          <p:nvPr/>
        </p:nvSpPr>
        <p:spPr>
          <a:xfrm>
            <a:off x="614775" y="1508749"/>
            <a:ext cx="5132400" cy="5633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4000">
                <a:solidFill>
                  <a:srgbClr val="E81B25"/>
                </a:solidFill>
                <a:latin typeface="Overlock"/>
                <a:ea typeface="Overlock"/>
                <a:cs typeface="Overlock"/>
                <a:sym typeface="Overlock"/>
              </a:rPr>
              <a:t>RVCE</a:t>
            </a:r>
            <a:r>
              <a:rPr b="1" i="0" lang="en-IN" sz="4000" u="none" cap="none" strike="noStrike">
                <a:solidFill>
                  <a:srgbClr val="E81B25"/>
                </a:solidFill>
                <a:latin typeface="Overlock"/>
                <a:ea typeface="Overlock"/>
                <a:cs typeface="Overlock"/>
                <a:sym typeface="Overlock"/>
              </a:rPr>
              <a:t>_</a:t>
            </a:r>
            <a:r>
              <a:rPr b="1" lang="en-IN" sz="4000">
                <a:solidFill>
                  <a:srgbClr val="E81B25"/>
                </a:solidFill>
                <a:latin typeface="Overlock"/>
                <a:ea typeface="Overlock"/>
                <a:cs typeface="Overlock"/>
                <a:sym typeface="Overlock"/>
              </a:rPr>
              <a:t>Hacktivators</a:t>
            </a:r>
            <a:endParaRPr/>
          </a:p>
          <a:p>
            <a:pPr indent="0" lvl="0" marL="0" marR="0" rtl="0" algn="ctr">
              <a:spcBef>
                <a:spcPts val="0"/>
              </a:spcBef>
              <a:spcAft>
                <a:spcPts val="0"/>
              </a:spcAft>
              <a:buNone/>
            </a:pPr>
            <a:r>
              <a:rPr b="1" lang="en-IN" sz="4000">
                <a:solidFill>
                  <a:srgbClr val="E81B25"/>
                </a:solidFill>
                <a:latin typeface="Overlock"/>
                <a:ea typeface="Overlock"/>
                <a:cs typeface="Overlock"/>
                <a:sym typeface="Overlock"/>
              </a:rPr>
              <a:t>ATLAS - AI Training Advisor</a:t>
            </a:r>
            <a:endParaRPr/>
          </a:p>
          <a:p>
            <a:pPr indent="0" lvl="0" marL="0" marR="0" rtl="0" algn="ctr">
              <a:spcBef>
                <a:spcPts val="0"/>
              </a:spcBef>
              <a:spcAft>
                <a:spcPts val="0"/>
              </a:spcAft>
              <a:buNone/>
            </a:pPr>
            <a:r>
              <a:t/>
            </a:r>
            <a:endParaRPr b="1" i="0" sz="4000" u="none" cap="none" strike="noStrike">
              <a:solidFill>
                <a:srgbClr val="E81B25"/>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Rohan S,</a:t>
            </a:r>
            <a:endParaRPr b="1" sz="40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Rishab Rajesh Nayak,</a:t>
            </a:r>
            <a:endParaRPr b="1" sz="40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Sandesh S Patrot</a:t>
            </a:r>
            <a:endParaRPr b="1" sz="40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Lalan P</a:t>
            </a:r>
            <a:br>
              <a:rPr b="1" i="0" lang="en-IN" sz="4000" u="none" cap="none" strike="noStrike">
                <a:solidFill>
                  <a:schemeClr val="dk2"/>
                </a:solidFill>
                <a:latin typeface="Overlock"/>
                <a:ea typeface="Overlock"/>
                <a:cs typeface="Overlock"/>
                <a:sym typeface="Overlock"/>
              </a:rPr>
            </a:br>
            <a:endParaRPr b="1" i="0" sz="4000" u="none" cap="none" strike="noStrike">
              <a:solidFill>
                <a:schemeClr val="dk2"/>
              </a:solidFill>
              <a:latin typeface="Overlock"/>
              <a:ea typeface="Overlock"/>
              <a:cs typeface="Overlock"/>
              <a:sym typeface="Overlock"/>
            </a:endParaRPr>
          </a:p>
        </p:txBody>
      </p:sp>
      <p:grpSp>
        <p:nvGrpSpPr>
          <p:cNvPr id="93" name="Google Shape;93;p14"/>
          <p:cNvGrpSpPr/>
          <p:nvPr/>
        </p:nvGrpSpPr>
        <p:grpSpPr>
          <a:xfrm>
            <a:off x="137355" y="46746"/>
            <a:ext cx="3814159" cy="639045"/>
            <a:chOff x="137355" y="133834"/>
            <a:chExt cx="3814159" cy="639045"/>
          </a:xfrm>
        </p:grpSpPr>
        <p:pic>
          <p:nvPicPr>
            <p:cNvPr id="94" name="Google Shape;94;p14"/>
            <p:cNvPicPr preferRelativeResize="0"/>
            <p:nvPr/>
          </p:nvPicPr>
          <p:blipFill rotWithShape="1">
            <a:blip r:embed="rId4">
              <a:alphaModFix/>
            </a:blip>
            <a:srcRect b="0" l="0" r="0" t="0"/>
            <a:stretch/>
          </p:blipFill>
          <p:spPr>
            <a:xfrm>
              <a:off x="137355" y="133834"/>
              <a:ext cx="974396" cy="639045"/>
            </a:xfrm>
            <a:prstGeom prst="rect">
              <a:avLst/>
            </a:prstGeom>
            <a:noFill/>
            <a:ln>
              <a:noFill/>
            </a:ln>
          </p:spPr>
        </p:pic>
        <p:sp>
          <p:nvSpPr>
            <p:cNvPr id="95" name="Google Shape;95;p14"/>
            <p:cNvSpPr txBox="1"/>
            <p:nvPr/>
          </p:nvSpPr>
          <p:spPr>
            <a:xfrm>
              <a:off x="1017814" y="244337"/>
              <a:ext cx="29337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1800" u="none" cap="none" strike="noStrike">
                  <a:solidFill>
                    <a:schemeClr val="dk1"/>
                  </a:solidFill>
                  <a:latin typeface="Overlock"/>
                  <a:ea typeface="Overlock"/>
                  <a:cs typeface="Overlock"/>
                  <a:sym typeface="Overlock"/>
                </a:rPr>
                <a:t>| Tech Management, SRI-B</a:t>
              </a:r>
              <a:endParaRPr b="1" i="0" sz="1800" u="none" cap="none" strike="noStrike">
                <a:solidFill>
                  <a:srgbClr val="E81B25"/>
                </a:solidFill>
                <a:latin typeface="Overlock"/>
                <a:ea typeface="Overlock"/>
                <a:cs typeface="Overlock"/>
                <a:sym typeface="Overloc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IN" sz="1000" u="none" cap="none" strike="noStrike">
                <a:solidFill>
                  <a:schemeClr val="lt1"/>
                </a:solidFill>
                <a:latin typeface="Calibri"/>
                <a:ea typeface="Calibri"/>
                <a:cs typeface="Calibri"/>
                <a:sym typeface="Calibri"/>
              </a:rPr>
              <a:t>Idea</a:t>
            </a:r>
            <a:endParaRPr b="0" i="0" sz="1000" u="none" cap="none" strike="noStrike">
              <a:solidFill>
                <a:schemeClr val="lt1"/>
              </a:solidFill>
              <a:latin typeface="Calibri"/>
              <a:ea typeface="Calibri"/>
              <a:cs typeface="Calibri"/>
              <a:sym typeface="Calibri"/>
            </a:endParaRPr>
          </a:p>
        </p:txBody>
      </p:sp>
      <p:sp>
        <p:nvSpPr>
          <p:cNvPr id="104" name="Google Shape;104;p15"/>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IN" sz="4267" u="none" cap="none" strike="noStrike">
                <a:solidFill>
                  <a:schemeClr val="dk1"/>
                </a:solidFill>
                <a:latin typeface="Calibri"/>
                <a:ea typeface="Calibri"/>
                <a:cs typeface="Calibri"/>
                <a:sym typeface="Calibri"/>
              </a:rPr>
              <a:t>Problem Statement</a:t>
            </a:r>
            <a:endParaRPr sz="4267">
              <a:solidFill>
                <a:schemeClr val="dk1"/>
              </a:solidFill>
              <a:latin typeface="Calibri"/>
              <a:ea typeface="Calibri"/>
              <a:cs typeface="Calibri"/>
              <a:sym typeface="Calibri"/>
            </a:endParaRPr>
          </a:p>
        </p:txBody>
      </p:sp>
      <p:sp>
        <p:nvSpPr>
          <p:cNvPr id="105" name="Google Shape;105;p15"/>
          <p:cNvSpPr txBox="1"/>
          <p:nvPr/>
        </p:nvSpPr>
        <p:spPr>
          <a:xfrm>
            <a:off x="565575" y="1603575"/>
            <a:ext cx="10282800" cy="48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200">
                <a:solidFill>
                  <a:schemeClr val="dk1"/>
                </a:solidFill>
                <a:latin typeface="Calibri"/>
                <a:ea typeface="Calibri"/>
                <a:cs typeface="Calibri"/>
                <a:sym typeface="Calibri"/>
              </a:rPr>
              <a:t>Retail crypto traders lose money not because markets are irrational — but because </a:t>
            </a:r>
            <a:r>
              <a:rPr i="1" lang="en-IN" sz="2200">
                <a:solidFill>
                  <a:schemeClr val="dk1"/>
                </a:solidFill>
                <a:latin typeface="Calibri"/>
                <a:ea typeface="Calibri"/>
                <a:cs typeface="Calibri"/>
                <a:sym typeface="Calibri"/>
              </a:rPr>
              <a:t>they</a:t>
            </a:r>
            <a:r>
              <a:rPr lang="en-IN" sz="2200">
                <a:solidFill>
                  <a:schemeClr val="dk1"/>
                </a:solidFill>
                <a:latin typeface="Calibri"/>
                <a:ea typeface="Calibri"/>
                <a:cs typeface="Calibri"/>
                <a:sym typeface="Calibri"/>
              </a:rPr>
              <a:t> are. Fear, greed, and information overload cause 80%+ of retail traders to underperform the market.</a:t>
            </a:r>
            <a:r>
              <a:rPr lang="en-IN" sz="1800">
                <a:solidFill>
                  <a:schemeClr val="dk1"/>
                </a:solidFill>
                <a:latin typeface="Calibri"/>
                <a:ea typeface="Calibri"/>
                <a:cs typeface="Calibri"/>
                <a:sym typeface="Calibri"/>
              </a:rPr>
              <a:t> </a:t>
            </a:r>
            <a:br>
              <a:rPr lang="en-IN" sz="1800">
                <a:solidFill>
                  <a:schemeClr val="dk1"/>
                </a:solidFill>
                <a:latin typeface="Calibri"/>
                <a:ea typeface="Calibri"/>
                <a:cs typeface="Calibri"/>
                <a:sym typeface="Calibri"/>
              </a:rPr>
            </a:br>
            <a:br>
              <a:rPr lang="en-IN" sz="1100">
                <a:solidFill>
                  <a:schemeClr val="dk1"/>
                </a:solidFill>
                <a:latin typeface="Calibri"/>
                <a:ea typeface="Calibri"/>
                <a:cs typeface="Calibri"/>
                <a:sym typeface="Calibri"/>
              </a:rPr>
            </a:br>
            <a:r>
              <a:rPr b="1" lang="en-IN" sz="2200">
                <a:solidFill>
                  <a:schemeClr val="dk1"/>
                </a:solidFill>
                <a:latin typeface="Calibri"/>
                <a:ea typeface="Calibri"/>
                <a:cs typeface="Calibri"/>
                <a:sym typeface="Calibri"/>
              </a:rPr>
              <a:t>Who Faces It (Persona): </a:t>
            </a:r>
            <a:br>
              <a:rPr lang="en-IN" sz="2200">
                <a:solidFill>
                  <a:schemeClr val="dk1"/>
                </a:solidFill>
                <a:latin typeface="Calibri"/>
                <a:ea typeface="Calibri"/>
                <a:cs typeface="Calibri"/>
                <a:sym typeface="Calibri"/>
              </a:rPr>
            </a:br>
            <a:r>
              <a:rPr lang="en-IN" sz="2200">
                <a:solidFill>
                  <a:schemeClr val="dk1"/>
                </a:solidFill>
                <a:latin typeface="Calibri"/>
                <a:ea typeface="Calibri"/>
                <a:cs typeface="Calibri"/>
                <a:sym typeface="Calibri"/>
              </a:rPr>
              <a:t>A college student trading ETH on Binance with ₹20,000 — no risk management, no strategy, pure gut feeling.</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IN" sz="2200">
                <a:solidFill>
                  <a:schemeClr val="dk1"/>
                </a:solidFill>
                <a:latin typeface="Calibri"/>
                <a:ea typeface="Calibri"/>
                <a:cs typeface="Calibri"/>
                <a:sym typeface="Calibri"/>
              </a:rPr>
              <a:t>A part-time crypto investor who can't monitor charts 24/7 but doesn't trust a black-box bot either.</a:t>
            </a:r>
            <a:br>
              <a:rPr lang="en-IN" sz="22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a:p>
            <a:pPr indent="0" lvl="0" marL="0" rtl="0" algn="l">
              <a:spcBef>
                <a:spcPts val="0"/>
              </a:spcBef>
              <a:spcAft>
                <a:spcPts val="0"/>
              </a:spcAft>
              <a:buNone/>
            </a:pPr>
            <a:r>
              <a:rPr b="1" lang="en-IN" sz="2200">
                <a:solidFill>
                  <a:schemeClr val="dk1"/>
                </a:solidFill>
                <a:latin typeface="Calibri"/>
                <a:ea typeface="Calibri"/>
                <a:cs typeface="Calibri"/>
                <a:sym typeface="Calibri"/>
              </a:rPr>
              <a:t>Why It's Important: </a:t>
            </a:r>
            <a:br>
              <a:rPr b="1" lang="en-IN" sz="2200">
                <a:solidFill>
                  <a:schemeClr val="dk1"/>
                </a:solidFill>
                <a:latin typeface="Calibri"/>
                <a:ea typeface="Calibri"/>
                <a:cs typeface="Calibri"/>
                <a:sym typeface="Calibri"/>
              </a:rPr>
            </a:br>
            <a:r>
              <a:rPr lang="en-IN" sz="2200">
                <a:solidFill>
                  <a:schemeClr val="dk1"/>
                </a:solidFill>
                <a:latin typeface="Calibri"/>
                <a:ea typeface="Calibri"/>
                <a:cs typeface="Calibri"/>
                <a:sym typeface="Calibri"/>
              </a:rPr>
              <a:t>Crypto markets are 24/7, volatile, and unforgiving.</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IN" sz="2200">
                <a:solidFill>
                  <a:schemeClr val="dk1"/>
                </a:solidFill>
                <a:latin typeface="Calibri"/>
                <a:ea typeface="Calibri"/>
                <a:cs typeface="Calibri"/>
                <a:sym typeface="Calibri"/>
              </a:rPr>
              <a:t>Existing bots are either too simple (rule-based) or too opaque (black box ML).</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IN" sz="2200">
                <a:solidFill>
                  <a:schemeClr val="dk1"/>
                </a:solidFill>
                <a:latin typeface="Calibri"/>
                <a:ea typeface="Calibri"/>
                <a:cs typeface="Calibri"/>
                <a:sym typeface="Calibri"/>
              </a:rPr>
              <a:t>Traders need a system that </a:t>
            </a:r>
            <a:r>
              <a:rPr i="1" lang="en-IN" sz="2200">
                <a:solidFill>
                  <a:schemeClr val="dk1"/>
                </a:solidFill>
                <a:latin typeface="Calibri"/>
                <a:ea typeface="Calibri"/>
                <a:cs typeface="Calibri"/>
                <a:sym typeface="Calibri"/>
              </a:rPr>
              <a:t>explains its reasoning</a:t>
            </a:r>
            <a:r>
              <a:rPr lang="en-IN" sz="2200">
                <a:solidFill>
                  <a:schemeClr val="dk1"/>
                </a:solidFill>
                <a:latin typeface="Calibri"/>
                <a:ea typeface="Calibri"/>
                <a:cs typeface="Calibri"/>
                <a:sym typeface="Calibri"/>
              </a:rPr>
              <a:t>, not just fires orders.</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endParaRPr>
          </a:p>
        </p:txBody>
      </p:sp>
      <p:sp>
        <p:nvSpPr>
          <p:cNvPr id="106" name="Google Shape;106;p15"/>
          <p:cNvSpPr txBox="1"/>
          <p:nvPr/>
        </p:nvSpPr>
        <p:spPr>
          <a:xfrm>
            <a:off x="7313700" y="926575"/>
            <a:ext cx="42687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IN" sz="2300">
                <a:solidFill>
                  <a:schemeClr val="dk1"/>
                </a:solidFill>
                <a:latin typeface="Calibri"/>
                <a:ea typeface="Calibri"/>
                <a:cs typeface="Calibri"/>
                <a:sym typeface="Calibri"/>
              </a:rPr>
              <a:t>Theme :</a:t>
            </a:r>
            <a:r>
              <a:rPr lang="en-IN" sz="2300">
                <a:solidFill>
                  <a:schemeClr val="dk1"/>
                </a:solidFill>
                <a:latin typeface="Calibri"/>
                <a:ea typeface="Calibri"/>
                <a:cs typeface="Calibri"/>
                <a:sym typeface="Calibri"/>
              </a:rPr>
              <a:t> GenAI Research </a:t>
            </a:r>
            <a:br>
              <a:rPr lang="en-IN" sz="2300">
                <a:solidFill>
                  <a:schemeClr val="dk1"/>
                </a:solidFill>
                <a:latin typeface="Calibri"/>
                <a:ea typeface="Calibri"/>
                <a:cs typeface="Calibri"/>
                <a:sym typeface="Calibri"/>
              </a:rPr>
            </a:br>
            <a:endParaRPr sz="23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15" name="Google Shape;115;p16"/>
          <p:cNvSpPr/>
          <p:nvPr/>
        </p:nvSpPr>
        <p:spPr>
          <a:xfrm>
            <a:off x="609600" y="433923"/>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Current Solution &amp; Gaps</a:t>
            </a:r>
            <a:endParaRPr sz="4267">
              <a:solidFill>
                <a:schemeClr val="dk1"/>
              </a:solidFill>
              <a:latin typeface="Calibri"/>
              <a:ea typeface="Calibri"/>
              <a:cs typeface="Calibri"/>
              <a:sym typeface="Calibri"/>
            </a:endParaRPr>
          </a:p>
        </p:txBody>
      </p:sp>
      <p:pic>
        <p:nvPicPr>
          <p:cNvPr id="116" name="Google Shape;116;p16"/>
          <p:cNvPicPr preferRelativeResize="0"/>
          <p:nvPr/>
        </p:nvPicPr>
        <p:blipFill>
          <a:blip r:embed="rId3">
            <a:alphaModFix/>
          </a:blip>
          <a:stretch>
            <a:fillRect/>
          </a:stretch>
        </p:blipFill>
        <p:spPr>
          <a:xfrm>
            <a:off x="609600" y="1062150"/>
            <a:ext cx="10112824" cy="4151999"/>
          </a:xfrm>
          <a:prstGeom prst="rect">
            <a:avLst/>
          </a:prstGeom>
          <a:noFill/>
          <a:ln>
            <a:noFill/>
          </a:ln>
        </p:spPr>
      </p:pic>
      <p:sp>
        <p:nvSpPr>
          <p:cNvPr id="117" name="Google Shape;117;p16"/>
          <p:cNvSpPr txBox="1"/>
          <p:nvPr/>
        </p:nvSpPr>
        <p:spPr>
          <a:xfrm>
            <a:off x="533225" y="5190600"/>
            <a:ext cx="11490900" cy="16674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Calibri"/>
              <a:buChar char="●"/>
            </a:pPr>
            <a:r>
              <a:rPr lang="en-IN" sz="2200">
                <a:solidFill>
                  <a:schemeClr val="dk1"/>
                </a:solidFill>
                <a:latin typeface="Calibri"/>
                <a:ea typeface="Calibri"/>
                <a:cs typeface="Calibri"/>
                <a:sym typeface="Calibri"/>
              </a:rPr>
              <a:t>N</a:t>
            </a:r>
            <a:r>
              <a:rPr lang="en-IN" sz="2200">
                <a:solidFill>
                  <a:schemeClr val="dk1"/>
                </a:solidFill>
                <a:latin typeface="Calibri"/>
                <a:ea typeface="Calibri"/>
                <a:cs typeface="Calibri"/>
                <a:sym typeface="Calibri"/>
              </a:rPr>
              <a:t>o tool combines </a:t>
            </a:r>
            <a:r>
              <a:rPr b="1" lang="en-IN" sz="2200">
                <a:solidFill>
                  <a:schemeClr val="dk1"/>
                </a:solidFill>
                <a:latin typeface="Calibri"/>
                <a:ea typeface="Calibri"/>
                <a:cs typeface="Calibri"/>
                <a:sym typeface="Calibri"/>
              </a:rPr>
              <a:t>technical + sentiment + risk + contrarian skepticism</a:t>
            </a:r>
            <a:r>
              <a:rPr lang="en-IN" sz="2200">
                <a:solidFill>
                  <a:schemeClr val="dk1"/>
                </a:solidFill>
                <a:latin typeface="Calibri"/>
                <a:ea typeface="Calibri"/>
                <a:cs typeface="Calibri"/>
                <a:sym typeface="Calibri"/>
              </a:rPr>
              <a:t> in one unified, explainable system.</a:t>
            </a:r>
            <a:endParaRPr sz="2200">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IN" sz="2200">
                <a:solidFill>
                  <a:schemeClr val="dk1"/>
                </a:solidFill>
                <a:latin typeface="Calibri"/>
                <a:ea typeface="Calibri"/>
                <a:cs typeface="Calibri"/>
                <a:sym typeface="Calibri"/>
              </a:rPr>
              <a:t>No tool shows </a:t>
            </a:r>
            <a:r>
              <a:rPr i="1" lang="en-IN" sz="2200">
                <a:solidFill>
                  <a:schemeClr val="dk1"/>
                </a:solidFill>
                <a:latin typeface="Calibri"/>
                <a:ea typeface="Calibri"/>
                <a:cs typeface="Calibri"/>
                <a:sym typeface="Calibri"/>
              </a:rPr>
              <a:t>why</a:t>
            </a:r>
            <a:r>
              <a:rPr lang="en-IN" sz="2200">
                <a:solidFill>
                  <a:schemeClr val="dk1"/>
                </a:solidFill>
                <a:latin typeface="Calibri"/>
                <a:ea typeface="Calibri"/>
                <a:cs typeface="Calibri"/>
                <a:sym typeface="Calibri"/>
              </a:rPr>
              <a:t> it made a decision in plain English.</a:t>
            </a:r>
            <a:endParaRPr sz="2200">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IN" sz="2200">
                <a:solidFill>
                  <a:schemeClr val="dk1"/>
                </a:solidFill>
                <a:latin typeface="Calibri"/>
                <a:ea typeface="Calibri"/>
                <a:cs typeface="Calibri"/>
                <a:sym typeface="Calibri"/>
              </a:rPr>
              <a:t>No tool </a:t>
            </a:r>
            <a:r>
              <a:rPr i="1" lang="en-IN" sz="2200">
                <a:solidFill>
                  <a:schemeClr val="dk1"/>
                </a:solidFill>
                <a:latin typeface="Calibri"/>
                <a:ea typeface="Calibri"/>
                <a:cs typeface="Calibri"/>
                <a:sym typeface="Calibri"/>
              </a:rPr>
              <a:t>learns</a:t>
            </a:r>
            <a:r>
              <a:rPr lang="en-IN" sz="2200">
                <a:solidFill>
                  <a:schemeClr val="dk1"/>
                </a:solidFill>
                <a:latin typeface="Calibri"/>
                <a:ea typeface="Calibri"/>
                <a:cs typeface="Calibri"/>
                <a:sym typeface="Calibri"/>
              </a:rPr>
              <a:t> from its own past mistakes and updates strategy automatically.</a:t>
            </a:r>
            <a:endParaRPr sz="22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200">
              <a:solidFill>
                <a:schemeClr val="dk1"/>
              </a:solidFill>
              <a:latin typeface="Calibri"/>
              <a:ea typeface="Calibri"/>
              <a:cs typeface="Calibri"/>
              <a:sym typeface="Calibri"/>
            </a:endParaRPr>
          </a:p>
        </p:txBody>
      </p:sp>
      <p:sp>
        <p:nvSpPr>
          <p:cNvPr id="118" name="Google Shape;118;p16"/>
          <p:cNvSpPr txBox="1"/>
          <p:nvPr/>
        </p:nvSpPr>
        <p:spPr>
          <a:xfrm>
            <a:off x="729350" y="4938600"/>
            <a:ext cx="3359100" cy="25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What's Missing: </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27" name="Google Shape;127;p17"/>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Your Solutions</a:t>
            </a:r>
            <a:endParaRPr sz="4267">
              <a:solidFill>
                <a:schemeClr val="dk1"/>
              </a:solidFill>
              <a:latin typeface="Calibri"/>
              <a:ea typeface="Calibri"/>
              <a:cs typeface="Calibri"/>
              <a:sym typeface="Calibri"/>
            </a:endParaRPr>
          </a:p>
        </p:txBody>
      </p:sp>
      <p:sp>
        <p:nvSpPr>
          <p:cNvPr id="128" name="Google Shape;128;p17"/>
          <p:cNvSpPr txBox="1"/>
          <p:nvPr/>
        </p:nvSpPr>
        <p:spPr>
          <a:xfrm>
            <a:off x="609600" y="1296141"/>
            <a:ext cx="6198000" cy="15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200">
                <a:solidFill>
                  <a:schemeClr val="dk1"/>
                </a:solidFill>
                <a:latin typeface="Calibri"/>
                <a:ea typeface="Calibri"/>
                <a:cs typeface="Calibri"/>
                <a:sym typeface="Calibri"/>
              </a:rPr>
              <a:t>What We Built: </a:t>
            </a:r>
            <a:br>
              <a:rPr lang="en-IN" sz="2200">
                <a:solidFill>
                  <a:schemeClr val="dk1"/>
                </a:solidFill>
                <a:latin typeface="Calibri"/>
                <a:ea typeface="Calibri"/>
                <a:cs typeface="Calibri"/>
                <a:sym typeface="Calibri"/>
              </a:rPr>
            </a:br>
            <a:r>
              <a:rPr b="1" lang="en-IN" sz="2200">
                <a:solidFill>
                  <a:schemeClr val="dk1"/>
                </a:solidFill>
                <a:latin typeface="Calibri"/>
                <a:ea typeface="Calibri"/>
                <a:cs typeface="Calibri"/>
                <a:sym typeface="Calibri"/>
              </a:rPr>
              <a:t>ATLAS</a:t>
            </a:r>
            <a:r>
              <a:rPr lang="en-IN" sz="2200">
                <a:solidFill>
                  <a:schemeClr val="dk1"/>
                </a:solidFill>
                <a:latin typeface="Calibri"/>
                <a:ea typeface="Calibri"/>
                <a:cs typeface="Calibri"/>
                <a:sym typeface="Calibri"/>
              </a:rPr>
              <a:t> — an Autonomous Trading Logic &amp; Advisory System powered by a </a:t>
            </a:r>
            <a:r>
              <a:rPr b="1" lang="en-IN" sz="2200">
                <a:solidFill>
                  <a:schemeClr val="dk1"/>
                </a:solidFill>
                <a:latin typeface="Calibri"/>
                <a:ea typeface="Calibri"/>
                <a:cs typeface="Calibri"/>
                <a:sym typeface="Calibri"/>
              </a:rPr>
              <a:t>5-Agent AI Consensus Engine</a:t>
            </a:r>
            <a:r>
              <a:rPr lang="en-IN" sz="2200">
                <a:solidFill>
                  <a:schemeClr val="dk1"/>
                </a:solidFill>
                <a:latin typeface="Calibri"/>
                <a:ea typeface="Calibri"/>
                <a:cs typeface="Calibri"/>
                <a:sym typeface="Calibri"/>
              </a:rPr>
              <a:t> for ETH/USD crypto markets. </a:t>
            </a:r>
            <a:br>
              <a:rPr lang="en-IN" sz="22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p:txBody>
      </p:sp>
      <p:sp>
        <p:nvSpPr>
          <p:cNvPr id="129" name="Google Shape;129;p17"/>
          <p:cNvSpPr txBox="1"/>
          <p:nvPr/>
        </p:nvSpPr>
        <p:spPr>
          <a:xfrm>
            <a:off x="681550" y="2730375"/>
            <a:ext cx="5790000" cy="20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200">
                <a:solidFill>
                  <a:schemeClr val="dk1"/>
                </a:solidFill>
                <a:latin typeface="Calibri"/>
                <a:ea typeface="Calibri"/>
                <a:cs typeface="Calibri"/>
                <a:sym typeface="Calibri"/>
              </a:rPr>
              <a:t>Core Idea: </a:t>
            </a:r>
            <a:br>
              <a:rPr lang="en-IN" sz="2200">
                <a:solidFill>
                  <a:schemeClr val="dk1"/>
                </a:solidFill>
                <a:latin typeface="Calibri"/>
                <a:ea typeface="Calibri"/>
                <a:cs typeface="Calibri"/>
                <a:sym typeface="Calibri"/>
              </a:rPr>
            </a:br>
            <a:r>
              <a:rPr lang="en-IN" sz="2200">
                <a:solidFill>
                  <a:schemeClr val="dk1"/>
                </a:solidFill>
                <a:latin typeface="Calibri"/>
                <a:ea typeface="Calibri"/>
                <a:cs typeface="Calibri"/>
                <a:sym typeface="Calibri"/>
              </a:rPr>
              <a:t>Every 30 seconds, 5 specialized AI agents independently analyze the market and </a:t>
            </a:r>
            <a:r>
              <a:rPr i="1" lang="en-IN" sz="2200">
                <a:solidFill>
                  <a:schemeClr val="dk1"/>
                </a:solidFill>
                <a:latin typeface="Calibri"/>
                <a:ea typeface="Calibri"/>
                <a:cs typeface="Calibri"/>
                <a:sym typeface="Calibri"/>
              </a:rPr>
              <a:t>vote</a:t>
            </a:r>
            <a:r>
              <a:rPr lang="en-IN" sz="2200">
                <a:solidFill>
                  <a:schemeClr val="dk1"/>
                </a:solidFill>
                <a:latin typeface="Calibri"/>
                <a:ea typeface="Calibri"/>
                <a:cs typeface="Calibri"/>
                <a:sym typeface="Calibri"/>
              </a:rPr>
              <a:t> on a trade. A trade only executes when the collective confidence score exceeds </a:t>
            </a:r>
            <a:r>
              <a:rPr b="1" lang="en-IN" sz="2200">
                <a:solidFill>
                  <a:schemeClr val="dk1"/>
                </a:solidFill>
                <a:latin typeface="Calibri"/>
                <a:ea typeface="Calibri"/>
                <a:cs typeface="Calibri"/>
                <a:sym typeface="Calibri"/>
              </a:rPr>
              <a:t>5.0/10</a:t>
            </a:r>
            <a:r>
              <a:rPr lang="en-IN" sz="2200">
                <a:solidFill>
                  <a:schemeClr val="dk1"/>
                </a:solidFill>
                <a:latin typeface="Calibri"/>
                <a:ea typeface="Calibri"/>
                <a:cs typeface="Calibri"/>
                <a:sym typeface="Calibri"/>
              </a:rPr>
              <a:t>. Think of it as a Supreme Court for every trade decision.</a:t>
            </a:r>
            <a:endParaRPr sz="2200">
              <a:solidFill>
                <a:schemeClr val="dk1"/>
              </a:solidFill>
              <a:latin typeface="Calibri"/>
              <a:ea typeface="Calibri"/>
              <a:cs typeface="Calibri"/>
              <a:sym typeface="Calibri"/>
            </a:endParaRPr>
          </a:p>
        </p:txBody>
      </p:sp>
      <p:sp>
        <p:nvSpPr>
          <p:cNvPr id="130" name="Google Shape;130;p17"/>
          <p:cNvSpPr txBox="1"/>
          <p:nvPr/>
        </p:nvSpPr>
        <p:spPr>
          <a:xfrm>
            <a:off x="681550" y="4825275"/>
            <a:ext cx="11372400" cy="20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Key Features:</a:t>
            </a:r>
            <a:endParaRPr b="1" sz="2200">
              <a:solidFill>
                <a:schemeClr val="dk1"/>
              </a:solidFill>
              <a:latin typeface="Calibri"/>
              <a:ea typeface="Calibri"/>
              <a:cs typeface="Calibri"/>
              <a:sym typeface="Calibri"/>
            </a:endParaRPr>
          </a:p>
          <a:p>
            <a:pPr indent="-368300" lvl="0" marL="457200" rtl="0" algn="l">
              <a:lnSpc>
                <a:spcPct val="115000"/>
              </a:lnSpc>
              <a:spcBef>
                <a:spcPts val="1200"/>
              </a:spcBef>
              <a:spcAft>
                <a:spcPts val="0"/>
              </a:spcAft>
              <a:buClr>
                <a:schemeClr val="dk1"/>
              </a:buClr>
              <a:buSzPts val="2200"/>
              <a:buChar char="●"/>
            </a:pPr>
            <a:r>
              <a:rPr b="1" lang="en-IN" sz="2200">
                <a:solidFill>
                  <a:schemeClr val="dk1"/>
                </a:solidFill>
                <a:latin typeface="Calibri"/>
                <a:ea typeface="Calibri"/>
                <a:cs typeface="Calibri"/>
                <a:sym typeface="Calibri"/>
              </a:rPr>
              <a:t>Live Voting Logs</a:t>
            </a:r>
            <a:r>
              <a:rPr lang="en-IN" sz="2200">
                <a:solidFill>
                  <a:schemeClr val="dk1"/>
                </a:solidFill>
                <a:latin typeface="Calibri"/>
                <a:ea typeface="Calibri"/>
                <a:cs typeface="Calibri"/>
                <a:sym typeface="Calibri"/>
              </a:rPr>
              <a:t> — see each agent's vote and reasoning in real time</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IN" sz="2200">
                <a:solidFill>
                  <a:schemeClr val="dk1"/>
                </a:solidFill>
                <a:latin typeface="Calibri"/>
                <a:ea typeface="Calibri"/>
                <a:cs typeface="Calibri"/>
                <a:sym typeface="Calibri"/>
              </a:rPr>
              <a:t>Circuit Breaker</a:t>
            </a:r>
            <a:r>
              <a:rPr lang="en-IN" sz="2200">
                <a:solidFill>
                  <a:schemeClr val="dk1"/>
                </a:solidFill>
                <a:latin typeface="Calibri"/>
                <a:ea typeface="Calibri"/>
                <a:cs typeface="Calibri"/>
                <a:sym typeface="Calibri"/>
              </a:rPr>
              <a:t> — auto-halts trading during extreme volatility</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IN" sz="2200">
                <a:solidFill>
                  <a:schemeClr val="dk1"/>
                </a:solidFill>
                <a:latin typeface="Calibri"/>
                <a:ea typeface="Calibri"/>
                <a:cs typeface="Calibri"/>
                <a:sym typeface="Calibri"/>
              </a:rPr>
              <a:t>HERMES Memory Agent</a:t>
            </a:r>
            <a:r>
              <a:rPr lang="en-IN" sz="2200">
                <a:solidFill>
                  <a:schemeClr val="dk1"/>
                </a:solidFill>
                <a:latin typeface="Calibri"/>
                <a:ea typeface="Calibri"/>
                <a:cs typeface="Calibri"/>
                <a:sym typeface="Calibri"/>
              </a:rPr>
              <a:t> — post-mortems every day; bakes learnings back into agent prompts </a:t>
            </a:r>
            <a:endParaRPr sz="2200">
              <a:solidFill>
                <a:schemeClr val="dk1"/>
              </a:solidFill>
              <a:latin typeface="Calibri"/>
              <a:ea typeface="Calibri"/>
              <a:cs typeface="Calibri"/>
              <a:sym typeface="Calibri"/>
            </a:endParaRPr>
          </a:p>
          <a:p>
            <a:pPr indent="0" lvl="0" marL="0" rtl="0" algn="l">
              <a:spcBef>
                <a:spcPts val="1200"/>
              </a:spcBef>
              <a:spcAft>
                <a:spcPts val="0"/>
              </a:spcAft>
              <a:buNone/>
            </a:pPr>
            <a:r>
              <a:t/>
            </a:r>
            <a:endParaRPr sz="2200">
              <a:solidFill>
                <a:schemeClr val="dk1"/>
              </a:solidFill>
              <a:latin typeface="Calibri"/>
              <a:ea typeface="Calibri"/>
              <a:cs typeface="Calibri"/>
              <a:sym typeface="Calibri"/>
            </a:endParaRPr>
          </a:p>
        </p:txBody>
      </p:sp>
      <p:pic>
        <p:nvPicPr>
          <p:cNvPr id="131" name="Google Shape;131;p17"/>
          <p:cNvPicPr preferRelativeResize="0"/>
          <p:nvPr/>
        </p:nvPicPr>
        <p:blipFill>
          <a:blip r:embed="rId3">
            <a:alphaModFix/>
          </a:blip>
          <a:stretch>
            <a:fillRect/>
          </a:stretch>
        </p:blipFill>
        <p:spPr>
          <a:xfrm>
            <a:off x="6807600" y="1524000"/>
            <a:ext cx="5095024" cy="3013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8"/>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8"/>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40" name="Google Shape;140;p18"/>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sp>
        <p:nvSpPr>
          <p:cNvPr id="141" name="Google Shape;141;p18"/>
          <p:cNvSpPr txBox="1"/>
          <p:nvPr/>
        </p:nvSpPr>
        <p:spPr>
          <a:xfrm>
            <a:off x="472450" y="1345725"/>
            <a:ext cx="11621700" cy="3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a:solidFill>
                  <a:schemeClr val="dk1"/>
                </a:solidFill>
                <a:latin typeface="Calibri"/>
                <a:ea typeface="Calibri"/>
                <a:cs typeface="Calibri"/>
                <a:sym typeface="Calibri"/>
              </a:rPr>
              <a:t>User Flow — Step by Step: </a:t>
            </a:r>
            <a:br>
              <a:rPr lang="en-IN">
                <a:solidFill>
                  <a:schemeClr val="dk1"/>
                </a:solidFill>
                <a:latin typeface="Calibri"/>
                <a:ea typeface="Calibri"/>
                <a:cs typeface="Calibri"/>
                <a:sym typeface="Calibri"/>
              </a:rPr>
            </a:br>
            <a:r>
              <a:rPr b="1" lang="en-IN">
                <a:solidFill>
                  <a:schemeClr val="dk1"/>
                </a:solidFill>
                <a:latin typeface="Calibri"/>
                <a:ea typeface="Calibri"/>
                <a:cs typeface="Calibri"/>
                <a:sym typeface="Calibri"/>
              </a:rPr>
              <a:t>Open Dashboard</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See live ETH/USD price, regime label (BULL / BEAR / CHOP), and current portfolio state.</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IN">
                <a:solidFill>
                  <a:schemeClr val="dk1"/>
                </a:solidFill>
                <a:latin typeface="Calibri"/>
                <a:ea typeface="Calibri"/>
                <a:cs typeface="Calibri"/>
                <a:sym typeface="Calibri"/>
              </a:rPr>
              <a:t>Watch the Agents Deliberate</a:t>
            </a:r>
            <a:endParaRPr b="1">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Live Voting Panel shows each agent's signal score and one-line reasoning.</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e.g., </a:t>
            </a:r>
            <a:r>
              <a:rPr i="1" lang="en-IN">
                <a:solidFill>
                  <a:schemeClr val="dk1"/>
                </a:solidFill>
                <a:latin typeface="Calibri"/>
                <a:ea typeface="Calibri"/>
                <a:cs typeface="Calibri"/>
                <a:sym typeface="Calibri"/>
              </a:rPr>
              <a:t>"Technician: RSI=72, overbought. Vote: SELL (8.2). Contrarian: Disagree — volume supports breakout. Vote: HOLD (5.1)."</a:t>
            </a:r>
            <a:endParaRPr i="1">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IN">
                <a:solidFill>
                  <a:schemeClr val="dk1"/>
                </a:solidFill>
                <a:latin typeface="Calibri"/>
                <a:ea typeface="Calibri"/>
                <a:cs typeface="Calibri"/>
                <a:sym typeface="Calibri"/>
              </a:rPr>
              <a:t>Consensus Decision</a:t>
            </a:r>
            <a:endParaRPr b="1">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Aggregated score shown. If &gt; 7.0 → trade executes. If not → system waits.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Calibri"/>
                <a:ea typeface="Calibri"/>
                <a:cs typeface="Calibri"/>
                <a:sym typeface="Calibri"/>
              </a:rPr>
              <a:t>User can trigger </a:t>
            </a:r>
            <a:r>
              <a:rPr b="1" lang="en-IN">
                <a:solidFill>
                  <a:schemeClr val="dk1"/>
                </a:solidFill>
                <a:latin typeface="Calibri"/>
                <a:ea typeface="Calibri"/>
                <a:cs typeface="Calibri"/>
                <a:sym typeface="Calibri"/>
              </a:rPr>
              <a:t>Emergency Halt</a:t>
            </a:r>
            <a:r>
              <a:rPr lang="en-IN">
                <a:solidFill>
                  <a:schemeClr val="dk1"/>
                </a:solidFill>
                <a:latin typeface="Calibri"/>
                <a:ea typeface="Calibri"/>
                <a:cs typeface="Calibri"/>
                <a:sym typeface="Calibri"/>
              </a:rPr>
              <a:t> at any time with one click.</a:t>
            </a: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IN">
                <a:solidFill>
                  <a:schemeClr val="dk1"/>
                </a:solidFill>
                <a:latin typeface="Calibri"/>
                <a:ea typeface="Calibri"/>
                <a:cs typeface="Calibri"/>
                <a:sym typeface="Calibri"/>
              </a:rPr>
              <a:t>HERMES Post-Mortem</a:t>
            </a:r>
            <a:endParaRPr b="1">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End of day: HERMES generates a plain-English report — "Today's loss on the 14:30 trade was caused by the Analyst agent overweighting a false positive news signal. Adjusting sentiment weight for tomorrow."</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IN">
                <a:solidFill>
                  <a:schemeClr val="dk1"/>
                </a:solidFill>
                <a:latin typeface="Calibri"/>
                <a:ea typeface="Calibri"/>
                <a:cs typeface="Calibri"/>
                <a:sym typeface="Calibri"/>
              </a:rPr>
              <a:t>Performance Audit</a:t>
            </a:r>
            <a:endParaRPr b="1">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"Transforma</a:t>
            </a:r>
            <a:r>
              <a:rPr lang="en-IN">
                <a:solidFill>
                  <a:schemeClr val="dk1"/>
                </a:solidFill>
                <a:latin typeface="Calibri"/>
                <a:ea typeface="Calibri"/>
                <a:cs typeface="Calibri"/>
                <a:sym typeface="Calibri"/>
              </a:rPr>
              <a:t>ti</a:t>
            </a:r>
            <a:r>
              <a:rPr lang="en-IN">
                <a:solidFill>
                  <a:schemeClr val="dk1"/>
                </a:solidFill>
                <a:latin typeface="Calibri"/>
                <a:ea typeface="Calibri"/>
                <a:cs typeface="Calibri"/>
                <a:sym typeface="Calibri"/>
              </a:rPr>
              <a:t>on Story" screen shows ATLAS's evolution — win rate, Sharpe ratio, drawdown over time.</a:t>
            </a:r>
            <a:br>
              <a:rPr lang="en-IN">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IN">
                <a:solidFill>
                  <a:schemeClr val="dk1"/>
                </a:solidFill>
                <a:latin typeface="Calibri"/>
                <a:ea typeface="Calibri"/>
                <a:cs typeface="Calibri"/>
                <a:sym typeface="Calibri"/>
              </a:rPr>
              <a:t>Key Moments to Highlight in Demo:</a:t>
            </a:r>
            <a:endParaRPr b="1">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Font typeface="Calibri"/>
              <a:buChar char="●"/>
            </a:pPr>
            <a:r>
              <a:rPr lang="en-IN">
                <a:solidFill>
                  <a:schemeClr val="dk1"/>
                </a:solidFill>
                <a:latin typeface="Calibri"/>
                <a:ea typeface="Calibri"/>
                <a:cs typeface="Calibri"/>
                <a:sym typeface="Calibri"/>
              </a:rPr>
              <a:t>The moment the Contrarian agent </a:t>
            </a:r>
            <a:r>
              <a:rPr i="1" lang="en-IN">
                <a:solidFill>
                  <a:schemeClr val="dk1"/>
                </a:solidFill>
                <a:latin typeface="Calibri"/>
                <a:ea typeface="Calibri"/>
                <a:cs typeface="Calibri"/>
                <a:sym typeface="Calibri"/>
              </a:rPr>
              <a:t>overrides</a:t>
            </a:r>
            <a:r>
              <a:rPr lang="en-IN">
                <a:solidFill>
                  <a:schemeClr val="dk1"/>
                </a:solidFill>
                <a:latin typeface="Calibri"/>
                <a:ea typeface="Calibri"/>
                <a:cs typeface="Calibri"/>
                <a:sym typeface="Calibri"/>
              </a:rPr>
              <a:t> a consensus and saves the portfolio</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A Circuit Breaker firing during a simulated flash crash</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HERMES generating a post-mortem report after a bad trade</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latin typeface="Calibri"/>
              <a:ea typeface="Calibri"/>
              <a:cs typeface="Calibri"/>
              <a:sym typeface="Calibri"/>
            </a:endParaRPr>
          </a:p>
        </p:txBody>
      </p:sp>
      <p:sp>
        <p:nvSpPr>
          <p:cNvPr id="142" name="Google Shape;142;p18"/>
          <p:cNvSpPr txBox="1"/>
          <p:nvPr/>
        </p:nvSpPr>
        <p:spPr>
          <a:xfrm>
            <a:off x="8181575" y="1345725"/>
            <a:ext cx="3400800" cy="475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9"/>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51" name="Google Shape;151;p19"/>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Tech &amp; Architecture</a:t>
            </a:r>
            <a:endParaRPr sz="4267">
              <a:solidFill>
                <a:schemeClr val="dk1"/>
              </a:solidFill>
              <a:latin typeface="Calibri"/>
              <a:ea typeface="Calibri"/>
              <a:cs typeface="Calibri"/>
              <a:sym typeface="Calibri"/>
            </a:endParaRPr>
          </a:p>
        </p:txBody>
      </p:sp>
      <p:pic>
        <p:nvPicPr>
          <p:cNvPr id="152" name="Google Shape;152;p19"/>
          <p:cNvPicPr preferRelativeResize="0"/>
          <p:nvPr/>
        </p:nvPicPr>
        <p:blipFill>
          <a:blip r:embed="rId3">
            <a:alphaModFix/>
          </a:blip>
          <a:stretch>
            <a:fillRect/>
          </a:stretch>
        </p:blipFill>
        <p:spPr>
          <a:xfrm>
            <a:off x="112900" y="1297825"/>
            <a:ext cx="7451301" cy="5029200"/>
          </a:xfrm>
          <a:prstGeom prst="rect">
            <a:avLst/>
          </a:prstGeom>
          <a:noFill/>
          <a:ln>
            <a:noFill/>
          </a:ln>
        </p:spPr>
      </p:pic>
      <p:sp>
        <p:nvSpPr>
          <p:cNvPr id="153" name="Google Shape;153;p19"/>
          <p:cNvSpPr txBox="1"/>
          <p:nvPr/>
        </p:nvSpPr>
        <p:spPr>
          <a:xfrm>
            <a:off x="7564200" y="1415725"/>
            <a:ext cx="4384200" cy="30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IN">
                <a:solidFill>
                  <a:schemeClr val="dk1"/>
                </a:solidFill>
                <a:latin typeface="Calibri"/>
                <a:ea typeface="Calibri"/>
                <a:cs typeface="Calibri"/>
                <a:sym typeface="Calibri"/>
              </a:rPr>
              <a:t>AI Usage:</a:t>
            </a:r>
            <a:endParaRPr b="1">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Char char="●"/>
            </a:pPr>
            <a:r>
              <a:rPr b="1" lang="en-IN">
                <a:solidFill>
                  <a:schemeClr val="dk1"/>
                </a:solidFill>
                <a:latin typeface="Calibri"/>
                <a:ea typeface="Calibri"/>
                <a:cs typeface="Calibri"/>
                <a:sym typeface="Calibri"/>
              </a:rPr>
              <a:t>GPT-4o</a:t>
            </a:r>
            <a:r>
              <a:rPr lang="en-IN">
                <a:solidFill>
                  <a:schemeClr val="dk1"/>
                </a:solidFill>
                <a:latin typeface="Calibri"/>
                <a:ea typeface="Calibri"/>
                <a:cs typeface="Calibri"/>
                <a:sym typeface="Calibri"/>
              </a:rPr>
              <a:t> powers 4 of the 5 agents — each gets a specialized system prompt defining its persona and risk appetite.</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Calibri"/>
                <a:ea typeface="Calibri"/>
                <a:cs typeface="Calibri"/>
                <a:sym typeface="Calibri"/>
              </a:rPr>
              <a:t>PPO (Proximal Policy Optimization)</a:t>
            </a:r>
            <a:r>
              <a:rPr lang="en-IN">
                <a:solidFill>
                  <a:schemeClr val="dk1"/>
                </a:solidFill>
                <a:latin typeface="Calibri"/>
                <a:ea typeface="Calibri"/>
                <a:cs typeface="Calibri"/>
                <a:sym typeface="Calibri"/>
              </a:rPr>
              <a:t> trains the RL Strategist offline on 60-day historical data.</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Calibri"/>
                <a:ea typeface="Calibri"/>
                <a:cs typeface="Calibri"/>
                <a:sym typeface="Calibri"/>
              </a:rPr>
              <a:t>Agents communicate via an internal </a:t>
            </a:r>
            <a:r>
              <a:rPr b="1" lang="en-IN">
                <a:solidFill>
                  <a:schemeClr val="dk1"/>
                </a:solidFill>
                <a:latin typeface="Calibri"/>
                <a:ea typeface="Calibri"/>
                <a:cs typeface="Calibri"/>
                <a:sym typeface="Calibri"/>
              </a:rPr>
              <a:t>Consensus Aggregator</a:t>
            </a:r>
            <a:r>
              <a:rPr lang="en-IN">
                <a:solidFill>
                  <a:schemeClr val="dk1"/>
                </a:solidFill>
                <a:latin typeface="Calibri"/>
                <a:ea typeface="Calibri"/>
                <a:cs typeface="Calibri"/>
                <a:sym typeface="Calibri"/>
              </a:rPr>
              <a:t> that weights votes and fires execution commands.</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latin typeface="Calibri"/>
              <a:ea typeface="Calibri"/>
              <a:cs typeface="Calibri"/>
              <a:sym typeface="Calibri"/>
            </a:endParaRPr>
          </a:p>
        </p:txBody>
      </p:sp>
      <p:sp>
        <p:nvSpPr>
          <p:cNvPr id="154" name="Google Shape;154;p19"/>
          <p:cNvSpPr txBox="1"/>
          <p:nvPr/>
        </p:nvSpPr>
        <p:spPr>
          <a:xfrm>
            <a:off x="7715375" y="4040325"/>
            <a:ext cx="4384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a:solidFill>
                  <a:schemeClr val="dk1"/>
                </a:solidFill>
                <a:latin typeface="Calibri"/>
                <a:ea typeface="Calibri"/>
                <a:cs typeface="Calibri"/>
                <a:sym typeface="Calibri"/>
              </a:rPr>
              <a:t>System Flow (Simple):</a:t>
            </a:r>
            <a:endParaRPr b="1">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Market Data (30s tick)</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Technical Indicators (RSI, MACD, ATR, EMA)</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5 Agents analyze in parallel</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Consensus Aggregator scores the round</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Score &gt; 7.0? Execute trade : Wait</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HERMES logs result → updates agent DNA</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Dashboard renders everything live</a:t>
            </a:r>
            <a:endParaRPr>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0"/>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0"/>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63" name="Google Shape;163;p20"/>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Impact &amp; Use cases</a:t>
            </a:r>
            <a:endParaRPr sz="4267">
              <a:solidFill>
                <a:schemeClr val="dk1"/>
              </a:solidFill>
              <a:latin typeface="Calibri"/>
              <a:ea typeface="Calibri"/>
              <a:cs typeface="Calibri"/>
              <a:sym typeface="Calibri"/>
            </a:endParaRPr>
          </a:p>
        </p:txBody>
      </p:sp>
      <p:sp>
        <p:nvSpPr>
          <p:cNvPr id="164" name="Google Shape;164;p20"/>
          <p:cNvSpPr txBox="1"/>
          <p:nvPr/>
        </p:nvSpPr>
        <p:spPr>
          <a:xfrm>
            <a:off x="334825" y="1633725"/>
            <a:ext cx="11045400" cy="503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Real-Life Scenarios:</a:t>
            </a:r>
            <a:endParaRPr b="1" sz="18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AutoNum type="arabicPeriod"/>
            </a:pPr>
            <a:r>
              <a:rPr b="1" lang="en-IN" sz="1800">
                <a:solidFill>
                  <a:schemeClr val="dk1"/>
                </a:solidFill>
                <a:latin typeface="Calibri"/>
                <a:ea typeface="Calibri"/>
                <a:cs typeface="Calibri"/>
                <a:sym typeface="Calibri"/>
              </a:rPr>
              <a:t>The Student Trader</a:t>
            </a:r>
            <a:r>
              <a:rPr lang="en-IN" sz="1800">
                <a:solidFill>
                  <a:schemeClr val="dk1"/>
                </a:solidFill>
                <a:latin typeface="Calibri"/>
                <a:ea typeface="Calibri"/>
                <a:cs typeface="Calibri"/>
                <a:sym typeface="Calibri"/>
              </a:rPr>
              <a:t> A 21-year-old engineering student puts ₹15,000 into ETH. ATLAS runs in paper mode for 2 weeks, shows a simulated 12% gain with full reasoning logs. Student now understands </a:t>
            </a:r>
            <a:r>
              <a:rPr i="1" lang="en-IN" sz="1800">
                <a:solidFill>
                  <a:schemeClr val="dk1"/>
                </a:solidFill>
                <a:latin typeface="Calibri"/>
                <a:ea typeface="Calibri"/>
                <a:cs typeface="Calibri"/>
                <a:sym typeface="Calibri"/>
              </a:rPr>
              <a:t>why</a:t>
            </a:r>
            <a:r>
              <a:rPr lang="en-IN" sz="1800">
                <a:solidFill>
                  <a:schemeClr val="dk1"/>
                </a:solidFill>
                <a:latin typeface="Calibri"/>
                <a:ea typeface="Calibri"/>
                <a:cs typeface="Calibri"/>
                <a:sym typeface="Calibri"/>
              </a:rPr>
              <a:t> trades work — not just that they do.</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The Busy Professional</a:t>
            </a:r>
            <a:r>
              <a:rPr lang="en-IN" sz="1800">
                <a:solidFill>
                  <a:schemeClr val="dk1"/>
                </a:solidFill>
                <a:latin typeface="Calibri"/>
                <a:ea typeface="Calibri"/>
                <a:cs typeface="Calibri"/>
                <a:sym typeface="Calibri"/>
              </a:rPr>
              <a:t> A software engineer can't watch charts during work hours. ATLAS monitors 24/7, fires alerts only when consensus is strong, and halts automatically if markets go haywire. No babysitting required.</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The Skeptical Analyst</a:t>
            </a:r>
            <a:r>
              <a:rPr lang="en-IN" sz="1800">
                <a:solidFill>
                  <a:schemeClr val="dk1"/>
                </a:solidFill>
                <a:latin typeface="Calibri"/>
                <a:ea typeface="Calibri"/>
                <a:cs typeface="Calibri"/>
                <a:sym typeface="Calibri"/>
              </a:rPr>
              <a:t> A finance student wants to audit every decision. HERMES post-mortems give full attribution — which agent was right, which was wrong, and what changed. Full transparency, no black box.</a:t>
            </a: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r>
              <a:rPr b="1" lang="en-IN" sz="1800">
                <a:solidFill>
                  <a:schemeClr val="dk1"/>
                </a:solidFill>
                <a:latin typeface="Calibri"/>
                <a:ea typeface="Calibri"/>
                <a:cs typeface="Calibri"/>
                <a:sym typeface="Calibri"/>
              </a:rPr>
              <a:t>Scale Potential:</a:t>
            </a:r>
            <a:endParaRPr b="1"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Extend to 50+ trading pairs across Binance, Coinbase, and Kraken via CCXT.</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Add more agent personas (Macro Economist, On-chain Analyst).</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White-label as a SaaS advisory tool for crypto funds and retail platforms.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Community layer: let users share and vote on Strategy DNA configurations.</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8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1"/>
              </a:solidFill>
              <a:latin typeface="Calibri"/>
              <a:ea typeface="Calibri"/>
              <a:cs typeface="Calibri"/>
              <a:sym typeface="Calibri"/>
            </a:endParaRPr>
          </a:p>
        </p:txBody>
      </p:sp>
      <p:sp>
        <p:nvSpPr>
          <p:cNvPr id="165" name="Google Shape;165;p20"/>
          <p:cNvSpPr txBox="1"/>
          <p:nvPr/>
        </p:nvSpPr>
        <p:spPr>
          <a:xfrm>
            <a:off x="6174450" y="1311850"/>
            <a:ext cx="5863500" cy="44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1"/>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1"/>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74" name="Google Shape;174;p21"/>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Differentiation</a:t>
            </a:r>
            <a:endParaRPr sz="4267">
              <a:solidFill>
                <a:schemeClr val="dk1"/>
              </a:solidFill>
              <a:latin typeface="Calibri"/>
              <a:ea typeface="Calibri"/>
              <a:cs typeface="Calibri"/>
              <a:sym typeface="Calibri"/>
            </a:endParaRPr>
          </a:p>
        </p:txBody>
      </p:sp>
      <p:sp>
        <p:nvSpPr>
          <p:cNvPr id="175" name="Google Shape;175;p21"/>
          <p:cNvSpPr txBox="1"/>
          <p:nvPr/>
        </p:nvSpPr>
        <p:spPr>
          <a:xfrm>
            <a:off x="640500" y="1536050"/>
            <a:ext cx="10738200" cy="494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IN" sz="2100">
                <a:solidFill>
                  <a:schemeClr val="dk1"/>
                </a:solidFill>
                <a:latin typeface="Calibri"/>
                <a:ea typeface="Calibri"/>
                <a:cs typeface="Calibri"/>
                <a:sym typeface="Calibri"/>
              </a:rPr>
              <a:t>Why ATLAS Stands Out:</a:t>
            </a:r>
            <a:endParaRPr b="1" sz="2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100">
                <a:solidFill>
                  <a:schemeClr val="dk1"/>
                </a:solidFill>
                <a:latin typeface="Calibri"/>
                <a:ea typeface="Calibri"/>
                <a:cs typeface="Calibri"/>
                <a:sym typeface="Calibri"/>
              </a:rPr>
              <a:t>MOAT 1 — Explainability by Design</a:t>
            </a:r>
            <a:r>
              <a:rPr lang="en-IN" sz="2100">
                <a:solidFill>
                  <a:schemeClr val="dk1"/>
                </a:solidFill>
                <a:latin typeface="Calibri"/>
                <a:ea typeface="Calibri"/>
                <a:cs typeface="Calibri"/>
                <a:sym typeface="Calibri"/>
              </a:rPr>
              <a:t> Every other trading bot is a black box. ATLAS makes </a:t>
            </a:r>
            <a:r>
              <a:rPr i="1" lang="en-IN" sz="2100">
                <a:solidFill>
                  <a:schemeClr val="dk1"/>
                </a:solidFill>
                <a:latin typeface="Calibri"/>
                <a:ea typeface="Calibri"/>
                <a:cs typeface="Calibri"/>
                <a:sym typeface="Calibri"/>
              </a:rPr>
              <a:t>every agent's reasoning</a:t>
            </a:r>
            <a:r>
              <a:rPr lang="en-IN" sz="2100">
                <a:solidFill>
                  <a:schemeClr val="dk1"/>
                </a:solidFill>
                <a:latin typeface="Calibri"/>
                <a:ea typeface="Calibri"/>
                <a:cs typeface="Calibri"/>
                <a:sym typeface="Calibri"/>
              </a:rPr>
              <a:t> visible in plain English, in real time. Users don't just see a trade — they see a debate. This builds trust and teaches users to think like a trader. No competitor offers this.</a:t>
            </a:r>
            <a:endParaRPr sz="2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100">
                <a:solidFill>
                  <a:schemeClr val="dk1"/>
                </a:solidFill>
                <a:latin typeface="Calibri"/>
                <a:ea typeface="Calibri"/>
                <a:cs typeface="Calibri"/>
                <a:sym typeface="Calibri"/>
              </a:rPr>
              <a:t>MOAT 2 — Self-Improving Memory (HERMES)</a:t>
            </a:r>
            <a:r>
              <a:rPr lang="en-IN" sz="2100">
                <a:solidFill>
                  <a:schemeClr val="dk1"/>
                </a:solidFill>
                <a:latin typeface="Calibri"/>
                <a:ea typeface="Calibri"/>
                <a:cs typeface="Calibri"/>
                <a:sym typeface="Calibri"/>
              </a:rPr>
              <a:t> ATLAS doesn't just trade — it </a:t>
            </a:r>
            <a:r>
              <a:rPr i="1" lang="en-IN" sz="2100">
                <a:solidFill>
                  <a:schemeClr val="dk1"/>
                </a:solidFill>
                <a:latin typeface="Calibri"/>
                <a:ea typeface="Calibri"/>
                <a:cs typeface="Calibri"/>
                <a:sym typeface="Calibri"/>
              </a:rPr>
              <a:t>learns</a:t>
            </a:r>
            <a:r>
              <a:rPr lang="en-IN" sz="2100">
                <a:solidFill>
                  <a:schemeClr val="dk1"/>
                </a:solidFill>
                <a:latin typeface="Calibri"/>
                <a:ea typeface="Calibri"/>
                <a:cs typeface="Calibri"/>
                <a:sym typeface="Calibri"/>
              </a:rPr>
              <a:t>. HERMES conducts daily post-mortems, identifies which agent reasoning was flawed, and updates the system's Strategy DNA. Over weeks, ATLAS becomes smarter specifically for the market conditions it has experienced. This compounding improvement is extremely hard to replicate quickly.</a:t>
            </a:r>
            <a:endParaRPr sz="2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100">
                <a:solidFill>
                  <a:schemeClr val="dk1"/>
                </a:solidFill>
                <a:latin typeface="Calibri"/>
                <a:ea typeface="Calibri"/>
                <a:cs typeface="Calibri"/>
                <a:sym typeface="Calibri"/>
              </a:rPr>
              <a:t>Bonus Differentiator — Democratic Consensus with a Skeptic Built In</a:t>
            </a:r>
            <a:r>
              <a:rPr lang="en-IN" sz="2100">
                <a:solidFill>
                  <a:schemeClr val="dk1"/>
                </a:solidFill>
                <a:latin typeface="Calibri"/>
                <a:ea typeface="Calibri"/>
                <a:cs typeface="Calibri"/>
                <a:sym typeface="Calibri"/>
              </a:rPr>
              <a:t> The Contrarian agent exists </a:t>
            </a:r>
            <a:r>
              <a:rPr i="1" lang="en-IN" sz="2100">
                <a:solidFill>
                  <a:schemeClr val="dk1"/>
                </a:solidFill>
                <a:latin typeface="Calibri"/>
                <a:ea typeface="Calibri"/>
                <a:cs typeface="Calibri"/>
                <a:sym typeface="Calibri"/>
              </a:rPr>
              <a:t>specifically</a:t>
            </a:r>
            <a:r>
              <a:rPr lang="en-IN" sz="2100">
                <a:solidFill>
                  <a:schemeClr val="dk1"/>
                </a:solidFill>
                <a:latin typeface="Calibri"/>
                <a:ea typeface="Calibri"/>
                <a:cs typeface="Calibri"/>
                <a:sym typeface="Calibri"/>
              </a:rPr>
              <a:t> to kill bad trades. Most systems optimize for action. ATLAS optimizes for </a:t>
            </a:r>
            <a:r>
              <a:rPr i="1" lang="en-IN" sz="2100">
                <a:solidFill>
                  <a:schemeClr val="dk1"/>
                </a:solidFill>
                <a:latin typeface="Calibri"/>
                <a:ea typeface="Calibri"/>
                <a:cs typeface="Calibri"/>
                <a:sym typeface="Calibri"/>
              </a:rPr>
              <a:t>correct</a:t>
            </a:r>
            <a:r>
              <a:rPr lang="en-IN" sz="2100">
                <a:solidFill>
                  <a:schemeClr val="dk1"/>
                </a:solidFill>
                <a:latin typeface="Calibri"/>
                <a:ea typeface="Calibri"/>
                <a:cs typeface="Calibri"/>
                <a:sym typeface="Calibri"/>
              </a:rPr>
              <a:t> action. The system is architecturally biased toward caution — which is exactly what retail traders need.</a:t>
            </a:r>
            <a:endParaRPr sz="2100">
              <a:solidFill>
                <a:schemeClr val="dk1"/>
              </a:solidFill>
              <a:latin typeface="Calibri"/>
              <a:ea typeface="Calibri"/>
              <a:cs typeface="Calibri"/>
              <a:sym typeface="Calibri"/>
            </a:endParaRPr>
          </a:p>
          <a:p>
            <a:pPr indent="0" lvl="0" marL="0" rtl="0" algn="l">
              <a:spcBef>
                <a:spcPts val="120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22"/>
          <p:cNvPicPr preferRelativeResize="0"/>
          <p:nvPr/>
        </p:nvPicPr>
        <p:blipFill>
          <a:blip r:embed="rId3">
            <a:alphaModFix/>
          </a:blip>
          <a:stretch>
            <a:fillRect/>
          </a:stretch>
        </p:blipFill>
        <p:spPr>
          <a:xfrm>
            <a:off x="191025" y="1207875"/>
            <a:ext cx="5706752" cy="2941951"/>
          </a:xfrm>
          <a:prstGeom prst="rect">
            <a:avLst/>
          </a:prstGeom>
          <a:noFill/>
          <a:ln>
            <a:noFill/>
          </a:ln>
        </p:spPr>
      </p:pic>
      <p:pic>
        <p:nvPicPr>
          <p:cNvPr id="182" name="Google Shape;182;p22"/>
          <p:cNvPicPr preferRelativeResize="0"/>
          <p:nvPr/>
        </p:nvPicPr>
        <p:blipFill rotWithShape="1">
          <a:blip r:embed="rId4">
            <a:alphaModFix/>
          </a:blip>
          <a:srcRect b="0" l="0" r="0" t="2969"/>
          <a:stretch/>
        </p:blipFill>
        <p:spPr>
          <a:xfrm>
            <a:off x="6136825" y="1207875"/>
            <a:ext cx="5810600" cy="2941951"/>
          </a:xfrm>
          <a:prstGeom prst="rect">
            <a:avLst/>
          </a:prstGeom>
          <a:noFill/>
          <a:ln>
            <a:noFill/>
          </a:ln>
        </p:spPr>
      </p:pic>
      <p:sp>
        <p:nvSpPr>
          <p:cNvPr id="183" name="Google Shape;183;p22"/>
          <p:cNvSpPr txBox="1"/>
          <p:nvPr/>
        </p:nvSpPr>
        <p:spPr>
          <a:xfrm>
            <a:off x="1560050" y="56625"/>
            <a:ext cx="65259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a:solidFill>
                  <a:schemeClr val="dk1"/>
                </a:solidFill>
                <a:latin typeface="Calibri"/>
                <a:ea typeface="Calibri"/>
                <a:cs typeface="Calibri"/>
                <a:sym typeface="Calibri"/>
              </a:rPr>
              <a:t>RESULTS</a:t>
            </a:r>
            <a:endParaRPr sz="2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3"/>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3"/>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92" name="Google Shape;192;p23"/>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 Link</a:t>
            </a:r>
            <a:endParaRPr sz="4267">
              <a:solidFill>
                <a:schemeClr val="dk1"/>
              </a:solidFill>
              <a:latin typeface="Calibri"/>
              <a:ea typeface="Calibri"/>
              <a:cs typeface="Calibri"/>
              <a:sym typeface="Calibri"/>
            </a:endParaRPr>
          </a:p>
        </p:txBody>
      </p:sp>
      <p:sp>
        <p:nvSpPr>
          <p:cNvPr id="193" name="Google Shape;193;p23"/>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94" name="Google Shape;194;p23"/>
          <p:cNvSpPr txBox="1"/>
          <p:nvPr/>
        </p:nvSpPr>
        <p:spPr>
          <a:xfrm>
            <a:off x="740496" y="1682945"/>
            <a:ext cx="55704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GitHub Repo - </a:t>
            </a:r>
            <a:r>
              <a:rPr lang="en-IN" sz="1800" u="sng">
                <a:solidFill>
                  <a:schemeClr val="hlink"/>
                </a:solidFill>
                <a:latin typeface="Calibri"/>
                <a:ea typeface="Calibri"/>
                <a:cs typeface="Calibri"/>
                <a:sym typeface="Calibri"/>
                <a:hlinkClick r:id="rId3"/>
              </a:rPr>
              <a:t>https://github.com/hihihi-svg/ATLAS</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Demo Link - </a:t>
            </a:r>
            <a:r>
              <a:rPr lang="en-IN" sz="1800" u="sng">
                <a:solidFill>
                  <a:schemeClr val="hlink"/>
                </a:solidFill>
                <a:latin typeface="Calibri"/>
                <a:ea typeface="Calibri"/>
                <a:cs typeface="Calibri"/>
                <a:sym typeface="Calibri"/>
                <a:hlinkClick r:id="rId4"/>
              </a:rPr>
              <a:t>https://drive.google.com/file/d/1dQHOMJPpKEpPHtKZmBmNMU25KjFZoAPy/view?usp=sharing</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Document submitted - </a:t>
            </a:r>
            <a:r>
              <a:rPr lang="en-IN" sz="1800" u="sng">
                <a:solidFill>
                  <a:schemeClr val="hlink"/>
                </a:solidFill>
                <a:latin typeface="Calibri"/>
                <a:ea typeface="Calibri"/>
                <a:cs typeface="Calibri"/>
                <a:sym typeface="Calibri"/>
                <a:hlinkClick r:id="rId5"/>
              </a:rPr>
              <a:t>https://docs.google.com/document/d/1XWGcT2da84ii2RsqHuhS2GlYhGltdpTb/edit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4"/>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203" name="Google Shape;203;p24"/>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&lt;Brownie Slide&gt;</a:t>
            </a:r>
            <a:endParaRPr sz="4267">
              <a:solidFill>
                <a:schemeClr val="dk1"/>
              </a:solidFill>
              <a:latin typeface="Calibri"/>
              <a:ea typeface="Calibri"/>
              <a:cs typeface="Calibri"/>
              <a:sym typeface="Calibri"/>
            </a:endParaRPr>
          </a:p>
        </p:txBody>
      </p:sp>
      <p:sp>
        <p:nvSpPr>
          <p:cNvPr id="204" name="Google Shape;204;p24"/>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205" name="Google Shape;205;p24"/>
          <p:cNvSpPr txBox="1"/>
          <p:nvPr/>
        </p:nvSpPr>
        <p:spPr>
          <a:xfrm>
            <a:off x="895550" y="1842125"/>
            <a:ext cx="9407100" cy="420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IN" sz="1900">
                <a:solidFill>
                  <a:schemeClr val="dk1"/>
                </a:solidFill>
                <a:latin typeface="Calibri"/>
                <a:ea typeface="Calibri"/>
                <a:cs typeface="Calibri"/>
                <a:sym typeface="Calibri"/>
              </a:rPr>
              <a:t>What's Next for ATLAS:</a:t>
            </a:r>
            <a:endParaRPr b="1" sz="1900">
              <a:solidFill>
                <a:schemeClr val="dk1"/>
              </a:solidFill>
              <a:latin typeface="Calibri"/>
              <a:ea typeface="Calibri"/>
              <a:cs typeface="Calibri"/>
              <a:sym typeface="Calibri"/>
            </a:endParaRPr>
          </a:p>
          <a:p>
            <a:pPr indent="-349250" lvl="0" marL="457200" rtl="0" algn="l">
              <a:lnSpc>
                <a:spcPct val="115000"/>
              </a:lnSpc>
              <a:spcBef>
                <a:spcPts val="120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On-chain Integration</a:t>
            </a:r>
            <a:r>
              <a:rPr lang="en-IN" sz="1900">
                <a:solidFill>
                  <a:schemeClr val="dk1"/>
                </a:solidFill>
                <a:latin typeface="Calibri"/>
                <a:ea typeface="Calibri"/>
                <a:cs typeface="Calibri"/>
                <a:sym typeface="Calibri"/>
              </a:rPr>
              <a:t> — read wallet activity and DeFi signals as a 6th agent input</a:t>
            </a:r>
            <a:endParaRPr sz="1900">
              <a:solidFill>
                <a:schemeClr val="dk1"/>
              </a:solidFill>
              <a:latin typeface="Calibri"/>
              <a:ea typeface="Calibri"/>
              <a:cs typeface="Calibri"/>
              <a:sym typeface="Calibri"/>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Mobile Alerts</a:t>
            </a:r>
            <a:r>
              <a:rPr lang="en-IN" sz="1900">
                <a:solidFill>
                  <a:schemeClr val="dk1"/>
                </a:solidFill>
                <a:latin typeface="Calibri"/>
                <a:ea typeface="Calibri"/>
                <a:cs typeface="Calibri"/>
                <a:sym typeface="Calibri"/>
              </a:rPr>
              <a:t> — push notifications when consensus fires, with one-tap override</a:t>
            </a:r>
            <a:endParaRPr sz="1900">
              <a:solidFill>
                <a:schemeClr val="dk1"/>
              </a:solidFill>
              <a:latin typeface="Calibri"/>
              <a:ea typeface="Calibri"/>
              <a:cs typeface="Calibri"/>
              <a:sym typeface="Calibri"/>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Fine-tuned Models</a:t>
            </a:r>
            <a:r>
              <a:rPr lang="en-IN" sz="1900">
                <a:solidFill>
                  <a:schemeClr val="dk1"/>
                </a:solidFill>
                <a:latin typeface="Calibri"/>
                <a:ea typeface="Calibri"/>
                <a:cs typeface="Calibri"/>
                <a:sym typeface="Calibri"/>
              </a:rPr>
              <a:t> — replace GPT-4o calls with a fine-tuned open-source model running on-device for zero-latency, zero-API-cost inference</a:t>
            </a:r>
            <a:endParaRPr sz="1900">
              <a:solidFill>
                <a:schemeClr val="dk1"/>
              </a:solidFill>
              <a:latin typeface="Calibri"/>
              <a:ea typeface="Calibri"/>
              <a:cs typeface="Calibri"/>
              <a:sym typeface="Calibri"/>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Backtest Leaderboard</a:t>
            </a:r>
            <a:r>
              <a:rPr lang="en-IN" sz="1900">
                <a:solidFill>
                  <a:schemeClr val="dk1"/>
                </a:solidFill>
                <a:latin typeface="Calibri"/>
                <a:ea typeface="Calibri"/>
                <a:cs typeface="Calibri"/>
                <a:sym typeface="Calibri"/>
              </a:rPr>
              <a:t> — community can submit their own Strategy DNA configs and compete on Sharpe ratio over historical data</a:t>
            </a:r>
            <a:endParaRPr sz="1900">
              <a:solidFill>
                <a:schemeClr val="dk1"/>
              </a:solidFill>
              <a:latin typeface="Calibri"/>
              <a:ea typeface="Calibri"/>
              <a:cs typeface="Calibri"/>
              <a:sym typeface="Calibri"/>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Natural Language Queries</a:t>
            </a:r>
            <a:r>
              <a:rPr lang="en-IN" sz="1900">
                <a:solidFill>
                  <a:schemeClr val="dk1"/>
                </a:solidFill>
                <a:latin typeface="Calibri"/>
                <a:ea typeface="Calibri"/>
                <a:cs typeface="Calibri"/>
                <a:sym typeface="Calibri"/>
              </a:rPr>
              <a:t> — ask ATLAS "why did you sell at 3pm yesterday?" and get a full conversational breakdown</a:t>
            </a:r>
            <a:endParaRPr sz="1900">
              <a:solidFill>
                <a:schemeClr val="dk1"/>
              </a:solidFill>
              <a:latin typeface="Calibri"/>
              <a:ea typeface="Calibri"/>
              <a:cs typeface="Calibri"/>
              <a:sym typeface="Calibri"/>
            </a:endParaRPr>
          </a:p>
          <a:p>
            <a:pPr indent="0" lvl="0" marL="0" rtl="0" algn="l">
              <a:spcBef>
                <a:spcPts val="1200"/>
              </a:spcBef>
              <a:spcAft>
                <a:spcPts val="0"/>
              </a:spcAft>
              <a:buNone/>
            </a:pPr>
            <a:r>
              <a:t/>
            </a:r>
            <a:endParaRPr sz="1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